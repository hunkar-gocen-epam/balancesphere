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62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3949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48150" y="1569393"/>
            <a:ext cx="762000" cy="57150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191307" y="685800"/>
            <a:ext cx="510944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spcAft>
                <a:spcPts val="1200"/>
              </a:spcAft>
              <a:buNone/>
            </a:pPr>
            <a:r>
              <a:rPr lang="en-US" sz="33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Health and Wellbeing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2749201" y="2426643"/>
            <a:ext cx="3759899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7"/>
              </a:lnSpc>
              <a:buNone/>
            </a:pPr>
            <a:r>
              <a:rPr lang="en-US" sz="1950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Human-Centric AI Solution Proposal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784117" y="3387477"/>
            <a:ext cx="36899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2400"/>
              </a:spcBef>
              <a:buNone/>
            </a:pPr>
            <a:r>
              <a:rPr lang="en-US" sz="1050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 Engineering Consulting | Version 1.0 | December 2025</a:t>
            </a:r>
            <a:endParaRPr lang="en-US" sz="1050" dirty="0"/>
          </a:p>
        </p:txBody>
      </p:sp>
      <p:pic>
        <p:nvPicPr>
          <p:cNvPr id="7" name="Image 0" descr="/tmp/rasterized-gradient-5c03b04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5105400"/>
            <a:ext cx="90297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44788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647700"/>
            <a:ext cx="5715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4800" y="1654522"/>
            <a:ext cx="4171950" cy="1041053"/>
          </a:xfrm>
          <a:prstGeom prst="roundRect">
            <a:avLst>
              <a:gd name="adj" fmla="val 5490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150" y="1787872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2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150" y="2005013"/>
            <a:ext cx="398335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Remote, distributed work creates invisible mental health risks: overload, blurred boundaries, emotional invisibility, and loss of human connection.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04800" y="2828925"/>
            <a:ext cx="4171950" cy="1041053"/>
          </a:xfrm>
          <a:prstGeom prst="roundRect">
            <a:avLst>
              <a:gd name="adj" fmla="val 5490"/>
            </a:avLst>
          </a:prstGeom>
          <a:solidFill>
            <a:srgbClr val="E8E4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8150" y="2962275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150" y="3179415"/>
            <a:ext cx="398335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wellbeing layer that makes distributed work sustainable with fairness, visibility, and connection — powered by supportive AI, not surveillance.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667250" y="1745307"/>
            <a:ext cx="42553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THREE-ENGINE SOLUTION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7250" y="2000548"/>
            <a:ext cx="4171950" cy="52938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86300" y="2000548"/>
            <a:ext cx="0" cy="529382"/>
          </a:xfrm>
          <a:prstGeom prst="line">
            <a:avLst/>
          </a:prstGeom>
          <a:noFill/>
          <a:ln w="381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211276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15793" y="2171849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19700" y="2095798"/>
            <a:ext cx="19128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Fairness Engine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219700" y="2288084"/>
            <a:ext cx="19128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workloads, surface hidden work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667250" y="2625179"/>
            <a:ext cx="4171950" cy="52938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86300" y="2625179"/>
            <a:ext cx="0" cy="529382"/>
          </a:xfrm>
          <a:prstGeom prst="line">
            <a:avLst/>
          </a:prstGeom>
          <a:noFill/>
          <a:ln w="381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273739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15793" y="2796480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19700" y="2720429"/>
            <a:ext cx="161565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Continuity Engine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219700" y="2912715"/>
            <a:ext cx="161565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transitions, make rest safe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667250" y="3249811"/>
            <a:ext cx="4171950" cy="52938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86300" y="3249811"/>
            <a:ext cx="0" cy="529382"/>
          </a:xfrm>
          <a:prstGeom prst="line">
            <a:avLst/>
          </a:prstGeom>
          <a:noFill/>
          <a:ln w="38100">
            <a:solidFill>
              <a:srgbClr val="F2C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336202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2CC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15793" y="3421112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19700" y="3345061"/>
            <a:ext cx="17111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Connection Coach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5219700" y="3537347"/>
            <a:ext cx="17111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human presence, belonging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Deloitte, McKinsey, WHO, and OECD research frameworks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44788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EPAM Pressure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647700"/>
            <a:ext cx="5715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/tmp/rasterized-gradient-b878a9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466255"/>
            <a:ext cx="4857750" cy="2799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0050" y="1539478"/>
            <a:ext cx="1360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2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09600" y="1532930"/>
            <a:ext cx="13459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PRESSURE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3957340" y="1539478"/>
            <a:ext cx="11321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Work-life blend impossible</a:t>
            </a:r>
            <a:endParaRPr lang="en-US" sz="750" dirty="0"/>
          </a:p>
        </p:txBody>
      </p:sp>
      <p:pic>
        <p:nvPicPr>
          <p:cNvPr id="9" name="Image 1" descr="/tmp/rasterized-gradient-4a288c6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793825"/>
            <a:ext cx="4857750" cy="27994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0050" y="1867049"/>
            <a:ext cx="1360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2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09600" y="1860500"/>
            <a:ext cx="10195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PRESSURE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3759250" y="1867049"/>
            <a:ext cx="13342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isolation, no belonging</a:t>
            </a:r>
            <a:endParaRPr lang="en-US" sz="750" dirty="0"/>
          </a:p>
        </p:txBody>
      </p:sp>
      <p:pic>
        <p:nvPicPr>
          <p:cNvPr id="13" name="Image 2" descr="/tmp/rasterized-gradient-3506839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2121396"/>
            <a:ext cx="4857750" cy="27994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0050" y="2194620"/>
            <a:ext cx="1360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2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609600" y="2188071"/>
            <a:ext cx="12687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CONTINUITY PRESSURE</a:t>
            </a:r>
            <a:endParaRPr lang="en-US" sz="825" dirty="0"/>
          </a:p>
        </p:txBody>
      </p:sp>
      <p:sp>
        <p:nvSpPr>
          <p:cNvPr id="16" name="Text 11"/>
          <p:cNvSpPr/>
          <p:nvPr/>
        </p:nvSpPr>
        <p:spPr>
          <a:xfrm>
            <a:off x="4006751" y="2194620"/>
            <a:ext cx="10817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Transitions disrupt teams</a:t>
            </a:r>
            <a:endParaRPr lang="en-US" sz="750" dirty="0"/>
          </a:p>
        </p:txBody>
      </p:sp>
      <p:pic>
        <p:nvPicPr>
          <p:cNvPr id="17" name="Image 3" descr="/tmp/rasterized-gradient-802d4ad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2448967"/>
            <a:ext cx="4857750" cy="27994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00050" y="2522190"/>
            <a:ext cx="1360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19" name="Text 13"/>
          <p:cNvSpPr/>
          <p:nvPr/>
        </p:nvSpPr>
        <p:spPr>
          <a:xfrm>
            <a:off x="609600" y="2515642"/>
            <a:ext cx="11561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PRESSURE</a:t>
            </a:r>
            <a:endParaRPr lang="en-US" sz="825" dirty="0"/>
          </a:p>
        </p:txBody>
      </p:sp>
      <p:sp>
        <p:nvSpPr>
          <p:cNvPr id="20" name="Text 14"/>
          <p:cNvSpPr/>
          <p:nvPr/>
        </p:nvSpPr>
        <p:spPr>
          <a:xfrm>
            <a:off x="3886498" y="2522190"/>
            <a:ext cx="12044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work, no recognition</a:t>
            </a:r>
            <a:endParaRPr lang="en-US" sz="750" dirty="0"/>
          </a:p>
        </p:txBody>
      </p:sp>
      <p:pic>
        <p:nvPicPr>
          <p:cNvPr id="21" name="Image 4" descr="/tmp/rasterized-gradient-4d87213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2776538"/>
            <a:ext cx="4857750" cy="27994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0050" y="2849761"/>
            <a:ext cx="1360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23" name="Text 16"/>
          <p:cNvSpPr/>
          <p:nvPr/>
        </p:nvSpPr>
        <p:spPr>
          <a:xfrm>
            <a:off x="609600" y="2843213"/>
            <a:ext cx="11521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PRESSURE</a:t>
            </a:r>
            <a:endParaRPr lang="en-US" sz="825" dirty="0"/>
          </a:p>
        </p:txBody>
      </p:sp>
      <p:sp>
        <p:nvSpPr>
          <p:cNvPr id="24" name="Text 17"/>
          <p:cNvSpPr/>
          <p:nvPr/>
        </p:nvSpPr>
        <p:spPr>
          <a:xfrm>
            <a:off x="3844230" y="2849761"/>
            <a:ext cx="12475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D3142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Uneven workload distribution</a:t>
            </a:r>
            <a:endParaRPr lang="en-US" sz="750" dirty="0"/>
          </a:p>
        </p:txBody>
      </p:sp>
      <p:pic>
        <p:nvPicPr>
          <p:cNvPr id="25" name="Image 5" descr="/tmp/rasterized-gradient-e171b2d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3104108"/>
            <a:ext cx="4857750" cy="27994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00050" y="3177332"/>
            <a:ext cx="1360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27" name="Text 19"/>
          <p:cNvSpPr/>
          <p:nvPr/>
        </p:nvSpPr>
        <p:spPr>
          <a:xfrm>
            <a:off x="609600" y="3170783"/>
            <a:ext cx="12293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PRESSURE</a:t>
            </a:r>
            <a:endParaRPr lang="en-US" sz="825" dirty="0"/>
          </a:p>
        </p:txBody>
      </p:sp>
      <p:sp>
        <p:nvSpPr>
          <p:cNvPr id="28" name="Text 20"/>
          <p:cNvSpPr/>
          <p:nvPr/>
        </p:nvSpPr>
        <p:spPr>
          <a:xfrm>
            <a:off x="4332982" y="3177332"/>
            <a:ext cx="7490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D3142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PTO feels unsafe</a:t>
            </a:r>
            <a:endParaRPr lang="en-US" sz="750" dirty="0"/>
          </a:p>
        </p:txBody>
      </p:sp>
      <p:pic>
        <p:nvPicPr>
          <p:cNvPr id="29" name="Image 6" descr="/tmp/rasterized-gradient-9a92c35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3431679"/>
            <a:ext cx="4857750" cy="27994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00050" y="3504902"/>
            <a:ext cx="1360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31" name="Text 22"/>
          <p:cNvSpPr/>
          <p:nvPr/>
        </p:nvSpPr>
        <p:spPr>
          <a:xfrm>
            <a:off x="609600" y="3498354"/>
            <a:ext cx="12054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PRESSURE</a:t>
            </a:r>
            <a:endParaRPr lang="en-US" sz="825" dirty="0"/>
          </a:p>
        </p:txBody>
      </p:sp>
      <p:sp>
        <p:nvSpPr>
          <p:cNvPr id="32" name="Text 23"/>
          <p:cNvSpPr/>
          <p:nvPr/>
        </p:nvSpPr>
        <p:spPr>
          <a:xfrm>
            <a:off x="4018955" y="3504902"/>
            <a:ext cx="10693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D314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work, chaos</a:t>
            </a:r>
            <a:endParaRPr lang="en-US" sz="750" dirty="0"/>
          </a:p>
        </p:txBody>
      </p:sp>
      <p:sp>
        <p:nvSpPr>
          <p:cNvPr id="33" name="Text 24"/>
          <p:cNvSpPr/>
          <p:nvPr/>
        </p:nvSpPr>
        <p:spPr>
          <a:xfrm>
            <a:off x="304800" y="3759250"/>
            <a:ext cx="4857750" cy="279946"/>
          </a:xfrm>
          <a:prstGeom prst="roundRect">
            <a:avLst>
              <a:gd name="adj" fmla="val 13610"/>
            </a:avLst>
          </a:prstGeom>
          <a:solidFill>
            <a:srgbClr val="2D31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5"/>
          <p:cNvSpPr/>
          <p:nvPr/>
        </p:nvSpPr>
        <p:spPr>
          <a:xfrm>
            <a:off x="400050" y="3832473"/>
            <a:ext cx="1360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35" name="Text 26"/>
          <p:cNvSpPr/>
          <p:nvPr/>
        </p:nvSpPr>
        <p:spPr>
          <a:xfrm>
            <a:off x="609600" y="3825925"/>
            <a:ext cx="9205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PRESSURE</a:t>
            </a:r>
            <a:endParaRPr lang="en-US" sz="825" dirty="0"/>
          </a:p>
        </p:txBody>
      </p:sp>
      <p:sp>
        <p:nvSpPr>
          <p:cNvPr id="36" name="Text 27"/>
          <p:cNvSpPr/>
          <p:nvPr/>
        </p:nvSpPr>
        <p:spPr>
          <a:xfrm>
            <a:off x="3907929" y="3832473"/>
            <a:ext cx="11825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workload, multitasking</a:t>
            </a:r>
            <a:endParaRPr lang="en-US" sz="750" dirty="0"/>
          </a:p>
        </p:txBody>
      </p:sp>
      <p:sp>
        <p:nvSpPr>
          <p:cNvPr id="37" name="Text 28"/>
          <p:cNvSpPr/>
          <p:nvPr/>
        </p:nvSpPr>
        <p:spPr>
          <a:xfrm>
            <a:off x="5353050" y="1872555"/>
            <a:ext cx="3486150" cy="1760190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 w="9525">
            <a:solidFill>
              <a:srgbClr val="E8E4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29"/>
          <p:cNvSpPr/>
          <p:nvPr/>
        </p:nvSpPr>
        <p:spPr>
          <a:xfrm>
            <a:off x="5476875" y="1996380"/>
            <a:ext cx="33032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IMPACT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5476875" y="2251621"/>
            <a:ext cx="3238500" cy="9525"/>
          </a:xfrm>
          <a:prstGeom prst="rect">
            <a:avLst/>
          </a:prstGeom>
          <a:solidFill>
            <a:srgbClr val="E8E4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1"/>
          <p:cNvSpPr/>
          <p:nvPr/>
        </p:nvSpPr>
        <p:spPr>
          <a:xfrm>
            <a:off x="5476875" y="2356396"/>
            <a:ext cx="330327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compounds the stress of layers below, creating a multiplicative burden on employees.</a:t>
            </a:r>
            <a:endParaRPr lang="en-US" sz="825" dirty="0"/>
          </a:p>
        </p:txBody>
      </p:sp>
      <p:sp>
        <p:nvSpPr>
          <p:cNvPr id="41" name="Text 32"/>
          <p:cNvSpPr/>
          <p:nvPr/>
        </p:nvSpPr>
        <p:spPr>
          <a:xfrm>
            <a:off x="5476875" y="2765971"/>
            <a:ext cx="3238500" cy="457200"/>
          </a:xfrm>
          <a:prstGeom prst="roundRect">
            <a:avLst>
              <a:gd name="adj" fmla="val 8333"/>
            </a:avLst>
          </a:prstGeom>
          <a:solidFill>
            <a:srgbClr val="FAF7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33"/>
          <p:cNvSpPr/>
          <p:nvPr/>
        </p:nvSpPr>
        <p:spPr>
          <a:xfrm>
            <a:off x="5491163" y="2765971"/>
            <a:ext cx="0" cy="45720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4"/>
          <p:cNvSpPr/>
          <p:nvPr/>
        </p:nvSpPr>
        <p:spPr>
          <a:xfrm>
            <a:off x="5600700" y="2861221"/>
            <a:ext cx="30798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"High performers silently carry structural dysfunction while appearing fine."</a:t>
            </a:r>
            <a:endParaRPr lang="en-US" sz="750" dirty="0"/>
          </a:p>
        </p:txBody>
      </p:sp>
      <p:sp>
        <p:nvSpPr>
          <p:cNvPr id="44" name="Text 35"/>
          <p:cNvSpPr/>
          <p:nvPr/>
        </p:nvSpPr>
        <p:spPr>
          <a:xfrm>
            <a:off x="5476875" y="3375571"/>
            <a:ext cx="33032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Deloitte, McKinsey, WHO, OECD frameworks.</a:t>
            </a:r>
            <a:endParaRPr lang="en-US" sz="750" dirty="0"/>
          </a:p>
        </p:txBody>
      </p:sp>
      <p:sp>
        <p:nvSpPr>
          <p:cNvPr id="45" name="Text 36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Pressure Stack Model v4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44788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647700"/>
            <a:ext cx="5715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4800" y="990600"/>
            <a:ext cx="8534400" cy="868561"/>
          </a:xfrm>
          <a:prstGeom prst="roundRect">
            <a:avLst>
              <a:gd name="adj" fmla="val 8773"/>
            </a:avLst>
          </a:prstGeom>
          <a:solidFill>
            <a:srgbClr val="2D31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2628" y="1181100"/>
            <a:ext cx="823874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EPAM's remote, distributed model creates </a:t>
            </a:r>
            <a:r>
              <a:rPr lang="en-US" sz="12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multi-layer mental-health risk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persistent overload, blurred boundaries, hidden workstreams, emotional invisibility, and uneven workload distribution.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4800" y="2398365"/>
            <a:ext cx="2768650" cy="798165"/>
          </a:xfrm>
          <a:prstGeom prst="roundRect">
            <a:avLst>
              <a:gd name="adj" fmla="val 71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850" y="2398365"/>
            <a:ext cx="0" cy="798165"/>
          </a:xfrm>
          <a:prstGeom prst="line">
            <a:avLst/>
          </a:prstGeom>
          <a:noFill/>
          <a:ln w="381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6250" y="2531715"/>
            <a:ext cx="25131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6250" y="2748855"/>
            <a:ext cx="251312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cannot disconnect safely. Rest creates anxiety about work collapse.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04800" y="3291780"/>
            <a:ext cx="2768650" cy="798165"/>
          </a:xfrm>
          <a:prstGeom prst="roundRect">
            <a:avLst>
              <a:gd name="adj" fmla="val 71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3850" y="3291780"/>
            <a:ext cx="0" cy="798165"/>
          </a:xfrm>
          <a:prstGeom prst="line">
            <a:avLst/>
          </a:prstGeom>
          <a:noFill/>
          <a:ln w="381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6250" y="3425130"/>
            <a:ext cx="25131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6250" y="3642271"/>
            <a:ext cx="251312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Vacation, maternity, attrition, relocation — all destabilize teams without handoff support.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187750" y="2398365"/>
            <a:ext cx="2768650" cy="798165"/>
          </a:xfrm>
          <a:prstGeom prst="roundRect">
            <a:avLst>
              <a:gd name="adj" fmla="val 71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206800" y="2398365"/>
            <a:ext cx="0" cy="798165"/>
          </a:xfrm>
          <a:prstGeom prst="line">
            <a:avLst/>
          </a:prstGeom>
          <a:noFill/>
          <a:ln w="38100">
            <a:solidFill>
              <a:srgbClr val="F2C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59200" y="2531715"/>
            <a:ext cx="25131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INVISIBILITY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59200" y="2748855"/>
            <a:ext cx="251312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employees lose recognition, identity, and human connection. Work becomes invisible.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187750" y="3291780"/>
            <a:ext cx="2768650" cy="798165"/>
          </a:xfrm>
          <a:prstGeom prst="roundRect">
            <a:avLst>
              <a:gd name="adj" fmla="val 71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206800" y="3291780"/>
            <a:ext cx="0" cy="798165"/>
          </a:xfrm>
          <a:prstGeom prst="line">
            <a:avLst/>
          </a:prstGeom>
          <a:noFill/>
          <a:ln w="38100">
            <a:solidFill>
              <a:srgbClr val="5C5C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59200" y="3425130"/>
            <a:ext cx="25131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DYSFUNCTION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59200" y="3642271"/>
            <a:ext cx="251312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performers absorb structural problems. They appear fine until they burn out.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070699" y="2398365"/>
            <a:ext cx="2768650" cy="798165"/>
          </a:xfrm>
          <a:prstGeom prst="roundRect">
            <a:avLst>
              <a:gd name="adj" fmla="val 71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089749" y="2398365"/>
            <a:ext cx="0" cy="798165"/>
          </a:xfrm>
          <a:prstGeom prst="line">
            <a:avLst/>
          </a:prstGeom>
          <a:noFill/>
          <a:ln w="38100">
            <a:solidFill>
              <a:srgbClr val="E8E4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42149" y="2531715"/>
            <a:ext cx="25131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STRESS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42149" y="2748855"/>
            <a:ext cx="251312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uncertainty, relocation, isolation — regional pressures amplify strain.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070699" y="3291780"/>
            <a:ext cx="2768650" cy="798165"/>
          </a:xfrm>
          <a:prstGeom prst="roundRect">
            <a:avLst>
              <a:gd name="adj" fmla="val 7160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204049" y="3425130"/>
            <a:ext cx="25519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2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04049" y="3642271"/>
            <a:ext cx="255198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Human-centric wellbeing layer: fairness, visibility, continuity, connection.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Problem Statement — Foundation for solution requirements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44788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647700"/>
            <a:ext cx="5715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9456" y="952500"/>
            <a:ext cx="87050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HUMAN-CENTRIC WELLBEING LAYER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04800" y="1394520"/>
            <a:ext cx="2743200" cy="2525911"/>
          </a:xfrm>
          <a:prstGeom prst="roundRect">
            <a:avLst>
              <a:gd name="adj" fmla="val 3017"/>
            </a:avLst>
          </a:prstGeom>
          <a:solidFill>
            <a:srgbClr val="FFFFFF"/>
          </a:solidFill>
          <a:ln w="19050">
            <a:solidFill>
              <a:srgbClr val="0D5C6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3850" y="1413570"/>
            <a:ext cx="2705100" cy="363736"/>
          </a:xfrm>
          <a:prstGeom prst="rect">
            <a:avLst/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2816" y="1508820"/>
            <a:ext cx="24871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FAIRNESS ENGINE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13385" y="2044005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Pattern-based support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38150" y="2234505"/>
            <a:ext cx="2476500" cy="9525"/>
          </a:xfrm>
          <a:prstGeom prst="rect">
            <a:avLst/>
          </a:prstGeom>
          <a:solidFill>
            <a:srgbClr val="E8E4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8150" y="2301180"/>
            <a:ext cx="24765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overload patterns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hidden workstreams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workload imbalances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fair delegation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38150" y="3539430"/>
            <a:ext cx="2476500" cy="247650"/>
          </a:xfrm>
          <a:prstGeom prst="roundRect">
            <a:avLst>
              <a:gd name="adj" fmla="val 15385"/>
            </a:avLst>
          </a:prstGeom>
          <a:solidFill>
            <a:srgbClr val="FAF7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1678" y="3596580"/>
            <a:ext cx="24094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Reduce burnout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200400" y="1394520"/>
            <a:ext cx="2743200" cy="2525911"/>
          </a:xfrm>
          <a:prstGeom prst="roundRect">
            <a:avLst>
              <a:gd name="adj" fmla="val 3017"/>
            </a:avLst>
          </a:prstGeom>
          <a:solidFill>
            <a:srgbClr val="FFFFFF"/>
          </a:solidFill>
          <a:ln w="19050">
            <a:solidFill>
              <a:srgbClr val="E07A5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19450" y="1413570"/>
            <a:ext cx="2705100" cy="363736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28416" y="1508820"/>
            <a:ext cx="24871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CONTINUITY ENGINE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3308985" y="2044005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protection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33750" y="2234505"/>
            <a:ext cx="2476500" cy="9525"/>
          </a:xfrm>
          <a:prstGeom prst="rect">
            <a:avLst/>
          </a:prstGeom>
          <a:solidFill>
            <a:srgbClr val="E8E4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33750" y="2301180"/>
            <a:ext cx="24765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handoff summaries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decisions during absence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dependencies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transitions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333750" y="3539430"/>
            <a:ext cx="2476500" cy="247650"/>
          </a:xfrm>
          <a:prstGeom prst="roundRect">
            <a:avLst>
              <a:gd name="adj" fmla="val 15385"/>
            </a:avLst>
          </a:prstGeom>
          <a:solidFill>
            <a:srgbClr val="FAF7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67278" y="3596580"/>
            <a:ext cx="24094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Make rest safe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096000" y="1394520"/>
            <a:ext cx="2743200" cy="2525911"/>
          </a:xfrm>
          <a:prstGeom prst="roundRect">
            <a:avLst>
              <a:gd name="adj" fmla="val 3017"/>
            </a:avLst>
          </a:prstGeom>
          <a:solidFill>
            <a:srgbClr val="FFFFFF"/>
          </a:solidFill>
          <a:ln w="19050">
            <a:solidFill>
              <a:srgbClr val="F2CC8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15050" y="1413570"/>
            <a:ext cx="2705100" cy="363736"/>
          </a:xfrm>
          <a:prstGeom prst="rect">
            <a:avLst/>
          </a:prstGeom>
          <a:solidFill>
            <a:srgbClr val="F2CC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24016" y="1508820"/>
            <a:ext cx="24871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CONNECTION COACH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6204585" y="2044005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presence support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229350" y="2234505"/>
            <a:ext cx="2476500" cy="9525"/>
          </a:xfrm>
          <a:prstGeom prst="rect">
            <a:avLst/>
          </a:prstGeom>
          <a:solidFill>
            <a:srgbClr val="E8E4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29350" y="2301180"/>
            <a:ext cx="24765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Nudge manager check-ins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1:1 questions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low visibility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trust and empathy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229350" y="3539430"/>
            <a:ext cx="2476500" cy="247650"/>
          </a:xfrm>
          <a:prstGeom prst="roundRect">
            <a:avLst>
              <a:gd name="adj" fmla="val 15385"/>
            </a:avLst>
          </a:prstGeom>
          <a:solidFill>
            <a:srgbClr val="FAF7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62878" y="3596580"/>
            <a:ext cx="24094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Increase belonging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04800" y="4215854"/>
            <a:ext cx="8534400" cy="337096"/>
          </a:xfrm>
          <a:prstGeom prst="roundRect">
            <a:avLst>
              <a:gd name="adj" fmla="val 16954"/>
            </a:avLst>
          </a:prstGeom>
          <a:solidFill>
            <a:srgbClr val="2D31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13766" y="4311104"/>
            <a:ext cx="83164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F2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Core:</a:t>
            </a: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Supportive AI, NOT Surveillance | Pattern-Based | Human-in-the-Loop | Opt-in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Modular, region-adaptive wellbeing system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76200" cy="304800"/>
          </a:xfrm>
          <a:prstGeom prst="roundRect">
            <a:avLst>
              <a:gd name="adj" fmla="val 25000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247650"/>
            <a:ext cx="22369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Fairness Engine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04800" y="1130647"/>
            <a:ext cx="4171950" cy="874365"/>
          </a:xfrm>
          <a:prstGeom prst="roundRect">
            <a:avLst>
              <a:gd name="adj" fmla="val 6536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150" y="1263997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2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150" y="1500188"/>
            <a:ext cx="398335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workload imbalances so teams can share work fairly, protect high performers, and prevent burnout — without surveillance.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04800" y="2119313"/>
            <a:ext cx="42553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92770" y="2380208"/>
            <a:ext cx="23584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repeating overload patterns across teams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92770" y="2589758"/>
            <a:ext cx="29996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 hidden workstreams (presales, mentoring, firefighting)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92770" y="2799308"/>
            <a:ext cx="26495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follow-through gaps and accountability issues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92770" y="3008858"/>
            <a:ext cx="2512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managers workload imbalances and risk flags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04800" y="3351758"/>
            <a:ext cx="42553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NOT DO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92770" y="3612654"/>
            <a:ext cx="18233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keystrokes or monitor activity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92770" y="3822204"/>
            <a:ext cx="19842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people or feed performance reviews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92770" y="4031754"/>
            <a:ext cx="18474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Auto-escalate to HR or make decisions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67250" y="772864"/>
            <a:ext cx="42553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667250" y="1014710"/>
            <a:ext cx="4171950" cy="508546"/>
          </a:xfrm>
          <a:prstGeom prst="roundRect">
            <a:avLst>
              <a:gd name="adj" fmla="val 749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81538" y="1014710"/>
            <a:ext cx="0" cy="508546"/>
          </a:xfrm>
          <a:prstGeom prst="line">
            <a:avLst/>
          </a:prstGeom>
          <a:noFill/>
          <a:ln w="28575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10125" y="1109960"/>
            <a:ext cx="3993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Pattern, Not Policing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10125" y="1294656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trends &amp; aggregates, not "gotcha" events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67250" y="1618506"/>
            <a:ext cx="4171950" cy="508546"/>
          </a:xfrm>
          <a:prstGeom prst="roundRect">
            <a:avLst>
              <a:gd name="adj" fmla="val 749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81538" y="1618506"/>
            <a:ext cx="0" cy="508546"/>
          </a:xfrm>
          <a:prstGeom prst="line">
            <a:avLst/>
          </a:prstGeom>
          <a:noFill/>
          <a:ln w="28575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10125" y="1713756"/>
            <a:ext cx="3993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Assistive, Not Authoritative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810125" y="1898452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 "Looks like X is overloaded" — never "X is failing"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667250" y="2222302"/>
            <a:ext cx="4171950" cy="508546"/>
          </a:xfrm>
          <a:prstGeom prst="roundRect">
            <a:avLst>
              <a:gd name="adj" fmla="val 749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81538" y="2222302"/>
            <a:ext cx="0" cy="508546"/>
          </a:xfrm>
          <a:prstGeom prst="line">
            <a:avLst/>
          </a:prstGeom>
          <a:noFill/>
          <a:ln w="28575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10125" y="2317552"/>
            <a:ext cx="3993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Opt-in &amp; Transparent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810125" y="2502247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know what's tracked and how it's used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667250" y="2826097"/>
            <a:ext cx="4171950" cy="508546"/>
          </a:xfrm>
          <a:prstGeom prst="roundRect">
            <a:avLst>
              <a:gd name="adj" fmla="val 749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81538" y="2826097"/>
            <a:ext cx="0" cy="508546"/>
          </a:xfrm>
          <a:prstGeom prst="line">
            <a:avLst/>
          </a:prstGeom>
          <a:noFill/>
          <a:ln w="28575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10125" y="2921347"/>
            <a:ext cx="3993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Context-Aware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810125" y="3106043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Considers role, seniority, project type, region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67250" y="3429893"/>
            <a:ext cx="4171950" cy="508546"/>
          </a:xfrm>
          <a:prstGeom prst="roundRect">
            <a:avLst>
              <a:gd name="adj" fmla="val 749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681538" y="3429893"/>
            <a:ext cx="0" cy="508546"/>
          </a:xfrm>
          <a:prstGeom prst="line">
            <a:avLst/>
          </a:prstGeom>
          <a:noFill/>
          <a:ln w="28575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10125" y="3525143"/>
            <a:ext cx="3993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Data-Minimal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4810125" y="3709839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metadata (timestamps, counts) — not content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667250" y="4033689"/>
            <a:ext cx="4171950" cy="508546"/>
          </a:xfrm>
          <a:prstGeom prst="roundRect">
            <a:avLst>
              <a:gd name="adj" fmla="val 749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681538" y="4033689"/>
            <a:ext cx="0" cy="508546"/>
          </a:xfrm>
          <a:prstGeom prst="line">
            <a:avLst/>
          </a:prstGeom>
          <a:noFill/>
          <a:ln w="28575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10125" y="4128939"/>
            <a:ext cx="3993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Human-in-the-Loop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4810125" y="4313634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and team decide what to act on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Reduce workload inequity → reduce burnout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76200" cy="304800"/>
          </a:xfrm>
          <a:prstGeom prst="roundRect">
            <a:avLst>
              <a:gd name="adj" fmla="val 25000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247650"/>
            <a:ext cx="25094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Continuity Engine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04800" y="1399282"/>
            <a:ext cx="3792736" cy="788640"/>
          </a:xfrm>
          <a:prstGeom prst="roundRect">
            <a:avLst>
              <a:gd name="adj" fmla="val 7247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9100" y="1513582"/>
            <a:ext cx="363541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9100" y="1730722"/>
            <a:ext cx="36354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humans from chaos when they disconnect — ensuring work keeps flowing, handoffs are clean, and return-to-work is smooth.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4800" y="2283172"/>
            <a:ext cx="38685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ANTIDOTE TO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04800" y="2525018"/>
            <a:ext cx="3792736" cy="838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0050" y="2620268"/>
            <a:ext cx="36742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can't take PTO, everything will fall apart."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00050" y="2791718"/>
            <a:ext cx="36742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"Nobody knows what I was working on."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00050" y="2963168"/>
            <a:ext cx="36742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"I'll return to 400 emails and 20 fires."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00050" y="3134618"/>
            <a:ext cx="36742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I relocate, I'll lose project continuity."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04800" y="3458468"/>
            <a:ext cx="3792736" cy="495300"/>
          </a:xfrm>
          <a:prstGeom prst="roundRect">
            <a:avLst>
              <a:gd name="adj" fmla="val 11538"/>
            </a:avLst>
          </a:prstGeom>
          <a:solidFill>
            <a:srgbClr val="FAF7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19088" y="3458468"/>
            <a:ext cx="0" cy="49530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8625" y="3553718"/>
            <a:ext cx="36451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Health Impact: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28625" y="3725168"/>
            <a:ext cx="36451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anxiety | Safer boundaries | Actual rest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288036" y="1055638"/>
            <a:ext cx="46421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288036" y="1278434"/>
            <a:ext cx="1466255" cy="550366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51097" y="1354634"/>
            <a:ext cx="134013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351097" y="1632645"/>
            <a:ext cx="13401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Summaries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5830491" y="1278434"/>
            <a:ext cx="1466255" cy="550366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893552" y="1354634"/>
            <a:ext cx="134013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893552" y="1632645"/>
            <a:ext cx="13401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Reminders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7372945" y="1278434"/>
            <a:ext cx="1466255" cy="550366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36007" y="1354634"/>
            <a:ext cx="134013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436007" y="1632645"/>
            <a:ext cx="13401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Logs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288036" y="1905000"/>
            <a:ext cx="2237482" cy="550366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343385" y="1981200"/>
            <a:ext cx="21267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343385" y="2259211"/>
            <a:ext cx="21267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Maps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6601718" y="1905000"/>
            <a:ext cx="2237482" cy="550366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657067" y="1981200"/>
            <a:ext cx="21267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657067" y="2259211"/>
            <a:ext cx="21267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Support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4288036" y="2588716"/>
            <a:ext cx="46421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PRINCIPLES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288036" y="2811512"/>
            <a:ext cx="4551164" cy="1485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tasks created — organizes what exists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metadata unless user explicitly shares content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only when employee activates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shows user what it will share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like best project coordinator — not a boss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Make rest safe again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F2CC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76200" cy="304800"/>
          </a:xfrm>
          <a:prstGeom prst="roundRect">
            <a:avLst>
              <a:gd name="adj" fmla="val 25000"/>
            </a:avLst>
          </a:prstGeom>
          <a:solidFill>
            <a:srgbClr val="F2CC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247650"/>
            <a:ext cx="25088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Connection Coach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04800" y="1187797"/>
            <a:ext cx="4171950" cy="788640"/>
          </a:xfrm>
          <a:prstGeom prst="roundRect">
            <a:avLst>
              <a:gd name="adj" fmla="val 7247"/>
            </a:avLst>
          </a:prstGeom>
          <a:solidFill>
            <a:srgbClr val="F2CC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9100" y="1302097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9100" y="1519238"/>
            <a:ext cx="40222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human connection in distributed teams by detecting isolation and enabling meaningful touchpoints — without surveillance.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4800" y="2071688"/>
            <a:ext cx="42553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PSYCHOLOGY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04800" y="2313533"/>
            <a:ext cx="4171950" cy="77152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0050" y="2408783"/>
            <a:ext cx="40610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work breaks the micro-interactions that create belonging: hallway chats, visual recognition, emotional cues, being seen.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00050" y="2775496"/>
            <a:ext cx="3981450" cy="0"/>
          </a:xfrm>
          <a:prstGeom prst="line">
            <a:avLst/>
          </a:prstGeom>
          <a:noFill/>
          <a:ln w="9525">
            <a:solidFill>
              <a:srgbClr val="E8E4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0050" y="2856458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is the #1 predictor of burnout in remote teams.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04800" y="3180308"/>
            <a:ext cx="42553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ADDRESSES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04800" y="3422154"/>
            <a:ext cx="862013" cy="342900"/>
          </a:xfrm>
          <a:prstGeom prst="roundRect">
            <a:avLst>
              <a:gd name="adj" fmla="val 27778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1000" y="3460254"/>
            <a:ext cx="7238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23963" y="3422154"/>
            <a:ext cx="999827" cy="342900"/>
          </a:xfrm>
          <a:prstGeom prst="roundRect">
            <a:avLst>
              <a:gd name="adj" fmla="val 27778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00163" y="3460254"/>
            <a:ext cx="8643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Belonging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280940" y="3422154"/>
            <a:ext cx="1158478" cy="342900"/>
          </a:xfrm>
          <a:prstGeom prst="roundRect">
            <a:avLst>
              <a:gd name="adj" fmla="val 27778"/>
            </a:avLst>
          </a:prstGeom>
          <a:solidFill>
            <a:srgbClr val="F2CC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357140" y="3460254"/>
            <a:ext cx="102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96568" y="3422154"/>
            <a:ext cx="957263" cy="342900"/>
          </a:xfrm>
          <a:prstGeom prst="roundRect">
            <a:avLst>
              <a:gd name="adj" fmla="val 27778"/>
            </a:avLst>
          </a:prstGeom>
          <a:solidFill>
            <a:srgbClr val="5C5C6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572768" y="3460254"/>
            <a:ext cx="820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04800" y="3822204"/>
            <a:ext cx="1475929" cy="342900"/>
          </a:xfrm>
          <a:prstGeom prst="roundRect">
            <a:avLst>
              <a:gd name="adj" fmla="val 27778"/>
            </a:avLst>
          </a:prstGeom>
          <a:solidFill>
            <a:srgbClr val="2D31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81000" y="3860304"/>
            <a:ext cx="13499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67250" y="790724"/>
            <a:ext cx="42553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67250" y="1013520"/>
            <a:ext cx="4171950" cy="274290"/>
          </a:xfrm>
          <a:prstGeom prst="roundRect">
            <a:avLst>
              <a:gd name="adj" fmla="val 138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62500" y="1070670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2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53000" y="1070670"/>
            <a:ext cx="22629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Nudges managers to check in on isolated individuals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67250" y="1325910"/>
            <a:ext cx="4171950" cy="274290"/>
          </a:xfrm>
          <a:prstGeom prst="roundRect">
            <a:avLst>
              <a:gd name="adj" fmla="val 138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62500" y="1383060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2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53000" y="1383060"/>
            <a:ext cx="26087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 deeper 1:1 questions for meaningful conversations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67250" y="1638300"/>
            <a:ext cx="4171950" cy="274290"/>
          </a:xfrm>
          <a:prstGeom prst="roundRect">
            <a:avLst>
              <a:gd name="adj" fmla="val 138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62500" y="1695450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2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53000" y="1695450"/>
            <a:ext cx="20712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people with low visibility + high output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67250" y="1950690"/>
            <a:ext cx="4171950" cy="274290"/>
          </a:xfrm>
          <a:prstGeom prst="roundRect">
            <a:avLst>
              <a:gd name="adj" fmla="val 138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62500" y="2007840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2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53000" y="2007840"/>
            <a:ext cx="22089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Encourages human presence over task supervision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667250" y="2358330"/>
            <a:ext cx="42553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PRINCIPLES (NON-CREEPY)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4667250" y="2581126"/>
            <a:ext cx="4171950" cy="19812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Facilitates connection — does NOT simulate friendship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Signal-based — never infers emotions from text/webcams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Uses: meeting patterns, reduced interactions, skipped events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Non-diagnostic, non-therapeutic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Reduce emotional invisibility, increase belonging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44788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 &amp; Privacy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647700"/>
            <a:ext cx="5715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86322" y="1593503"/>
            <a:ext cx="18848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04800" y="1784003"/>
            <a:ext cx="1847850" cy="1247775"/>
          </a:xfrm>
          <a:prstGeom prst="roundRect">
            <a:avLst>
              <a:gd name="adj" fmla="val 4580"/>
            </a:avLst>
          </a:prstGeom>
          <a:solidFill>
            <a:srgbClr val="E8E4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18867" y="1593503"/>
            <a:ext cx="15078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FILTER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533650" y="1784003"/>
            <a:ext cx="1478310" cy="1247775"/>
          </a:xfrm>
          <a:prstGeom prst="roundRect">
            <a:avLst>
              <a:gd name="adj" fmla="val 4580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74481" y="1593503"/>
            <a:ext cx="18848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392960" y="1941165"/>
            <a:ext cx="1847850" cy="285750"/>
          </a:xfrm>
          <a:prstGeom prst="roundRect">
            <a:avLst>
              <a:gd name="adj" fmla="val 13333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92960" y="2265015"/>
            <a:ext cx="1847850" cy="285750"/>
          </a:xfrm>
          <a:prstGeom prst="roundRect">
            <a:avLst>
              <a:gd name="adj" fmla="val 13333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92960" y="2588865"/>
            <a:ext cx="1847850" cy="285750"/>
          </a:xfrm>
          <a:prstGeom prst="roundRect">
            <a:avLst>
              <a:gd name="adj" fmla="val 13333"/>
            </a:avLst>
          </a:prstGeom>
          <a:solidFill>
            <a:srgbClr val="F2CC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99636" y="1593503"/>
            <a:ext cx="22617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OUTPUTS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621810" y="1784003"/>
            <a:ext cx="2217390" cy="1247775"/>
          </a:xfrm>
          <a:prstGeom prst="roundRect">
            <a:avLst>
              <a:gd name="adj" fmla="val 4580"/>
            </a:avLst>
          </a:prstGeom>
          <a:solidFill>
            <a:srgbClr val="FAF7F5"/>
          </a:solidFill>
          <a:ln w="19050">
            <a:solidFill>
              <a:srgbClr val="0D5C6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04800" y="3146078"/>
            <a:ext cx="2768650" cy="727621"/>
          </a:xfrm>
          <a:prstGeom prst="roundRect">
            <a:avLst>
              <a:gd name="adj" fmla="val 78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04800" y="3160365"/>
            <a:ext cx="2768650" cy="0"/>
          </a:xfrm>
          <a:prstGeom prst="line">
            <a:avLst/>
          </a:prstGeom>
          <a:noFill/>
          <a:ln w="28575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9100" y="3288953"/>
            <a:ext cx="25908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Minimization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19100" y="3492698"/>
            <a:ext cx="25908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Collects only what's needed. No keystroke logging, screen capture, or content scanning.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187750" y="3146078"/>
            <a:ext cx="2768650" cy="727621"/>
          </a:xfrm>
          <a:prstGeom prst="roundRect">
            <a:avLst>
              <a:gd name="adj" fmla="val 78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187750" y="3160365"/>
            <a:ext cx="2768650" cy="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02050" y="3288953"/>
            <a:ext cx="25908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302050" y="3492698"/>
            <a:ext cx="25908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see exactly what's tracked and can opt out. No hidden data collection.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070699" y="3146078"/>
            <a:ext cx="2768650" cy="727621"/>
          </a:xfrm>
          <a:prstGeom prst="roundRect">
            <a:avLst>
              <a:gd name="adj" fmla="val 78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070699" y="3160365"/>
            <a:ext cx="2768650" cy="0"/>
          </a:xfrm>
          <a:prstGeom prst="line">
            <a:avLst/>
          </a:prstGeom>
          <a:noFill/>
          <a:ln w="28575">
            <a:solidFill>
              <a:srgbClr val="F2C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84999" y="3288953"/>
            <a:ext cx="25908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Control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6184999" y="3492698"/>
            <a:ext cx="25908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suggests, humans decide. Never auto-escalates to HR or makes decisions autonomously.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principle: Supportive AI, not surveillance AI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44788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Principles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647700"/>
            <a:ext cx="5715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4800" y="914400"/>
            <a:ext cx="870508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i="1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Non-negotiables to keep this human-centric and non-dystopian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04800" y="1673423"/>
            <a:ext cx="2768650" cy="923925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28613" y="1673423"/>
            <a:ext cx="0" cy="923925"/>
          </a:xfrm>
          <a:prstGeom prst="line">
            <a:avLst/>
          </a:prstGeom>
          <a:noFill/>
          <a:ln w="47625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5775" y="180677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1918" y="1846808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8675" y="1853505"/>
            <a:ext cx="12420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Pattern, Not Policing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85775" y="2149673"/>
            <a:ext cx="250341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trends and aggregates. No "gotcha" moments tracking individual events.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187750" y="1673423"/>
            <a:ext cx="2768650" cy="923925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11562" y="1673423"/>
            <a:ext cx="0" cy="923925"/>
          </a:xfrm>
          <a:prstGeom prst="line">
            <a:avLst/>
          </a:prstGeom>
          <a:noFill/>
          <a:ln w="4762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68725" y="180677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64868" y="1846808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11625" y="1853505"/>
            <a:ext cx="16446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Assistive, Not Authoritative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3368725" y="2149673"/>
            <a:ext cx="250341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suggests. It never commands, ranks, or judges performance.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070699" y="1673423"/>
            <a:ext cx="2768650" cy="923925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094512" y="1673423"/>
            <a:ext cx="0" cy="923925"/>
          </a:xfrm>
          <a:prstGeom prst="line">
            <a:avLst/>
          </a:prstGeom>
          <a:noFill/>
          <a:ln w="47625">
            <a:solidFill>
              <a:srgbClr val="F2C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51674" y="180677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2CC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47817" y="1846808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94574" y="1853505"/>
            <a:ext cx="13894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Opt-in and Transparent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6251674" y="2149673"/>
            <a:ext cx="250341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know what's tracked. They choose participation. No hidden data.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04800" y="3323183"/>
            <a:ext cx="2768650" cy="923925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28613" y="3323183"/>
            <a:ext cx="0" cy="923925"/>
          </a:xfrm>
          <a:prstGeom prst="line">
            <a:avLst/>
          </a:prstGeom>
          <a:noFill/>
          <a:ln w="47625">
            <a:solidFill>
              <a:srgbClr val="5C5C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5775" y="345653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5C5C6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81918" y="3496568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8675" y="3503265"/>
            <a:ext cx="8891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485775" y="3799433"/>
            <a:ext cx="250341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Considers role, seniority, project type, region. No naive averages.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3187750" y="3323183"/>
            <a:ext cx="2768650" cy="923925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211562" y="3323183"/>
            <a:ext cx="0" cy="923925"/>
          </a:xfrm>
          <a:prstGeom prst="line">
            <a:avLst/>
          </a:prstGeom>
          <a:noFill/>
          <a:ln w="47625">
            <a:solidFill>
              <a:srgbClr val="2D31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68725" y="345653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D31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464868" y="3496568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711625" y="3503265"/>
            <a:ext cx="7860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Data-Minimal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3368725" y="3799433"/>
            <a:ext cx="250341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over content. Timestamps and counts, not messages and files.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6070699" y="3323183"/>
            <a:ext cx="2768650" cy="923925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094512" y="3323183"/>
            <a:ext cx="0" cy="923925"/>
          </a:xfrm>
          <a:prstGeom prst="line">
            <a:avLst/>
          </a:prstGeom>
          <a:noFill/>
          <a:ln w="47625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51674" y="345653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347817" y="3496568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594574" y="3503265"/>
            <a:ext cx="116464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6251674" y="3799433"/>
            <a:ext cx="250341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and team decide what to act on. AI never auto-escalates.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C5C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principles apply across all three AI engines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5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00" y="0"/>
            <a:ext cx="2857500" cy="2857500"/>
          </a:xfrm>
          <a:prstGeom prst="rect">
            <a:avLst/>
          </a:prstGeom>
          <a:solidFill>
            <a:srgbClr val="E07A5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238500"/>
            <a:ext cx="1905000" cy="1905000"/>
          </a:xfrm>
          <a:prstGeom prst="rect">
            <a:avLst/>
          </a:prstGeom>
          <a:solidFill>
            <a:srgbClr val="F2CC8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759363" y="499170"/>
            <a:ext cx="56252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1500"/>
              </a:spcAft>
              <a:buNone/>
            </a:pPr>
            <a:r>
              <a:rPr lang="en-US" sz="825" dirty="0">
                <a:solidFill>
                  <a:srgbClr val="F2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1759363" y="836265"/>
            <a:ext cx="5625275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spcAft>
                <a:spcPts val="18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are building the first wellbeing system that makes </a:t>
            </a:r>
            <a:r>
              <a:rPr lang="en-US" sz="2100" b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remote humans visible</a:t>
            </a: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21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supported</a:t>
            </a: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</a:t>
            </a: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able to rest</a:t>
            </a: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powered by fair, human-centric AI."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191000" y="2646015"/>
            <a:ext cx="762000" cy="1905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002377" y="3046065"/>
            <a:ext cx="134665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2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02377" y="3529905"/>
            <a:ext cx="13466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work, balanced loads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625566" y="3046065"/>
            <a:ext cx="153687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25566" y="3529905"/>
            <a:ext cx="15368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transitions, real rest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435407" y="3046065"/>
            <a:ext cx="170977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35407" y="3529905"/>
            <a:ext cx="17097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Belonging, recognition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2901255" y="4133701"/>
            <a:ext cx="3341489" cy="510480"/>
          </a:xfrm>
          <a:prstGeom prst="roundRect">
            <a:avLst>
              <a:gd name="adj" fmla="val 1492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188452" y="4295626"/>
            <a:ext cx="27670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make distributed work </a:t>
            </a:r>
            <a:r>
              <a:rPr lang="en-US" sz="1050" b="1" dirty="0">
                <a:solidFill>
                  <a:srgbClr val="F2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4800" y="4781550"/>
            <a:ext cx="12997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 Engineering Consulting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161437" y="4781550"/>
            <a:ext cx="6913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2025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1147</Words>
  <Application>Microsoft Office PowerPoint</Application>
  <PresentationFormat>On-screen Show (16:9)</PresentationFormat>
  <Paragraphs>225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EPAM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EPAM Mental Health &amp; Wellbeing Proposal</dc:title>
  <dc:subject>Human-Centric AI Solution</dc:subject>
  <dc:creator>EPAM Engineering Consulting</dc:creator>
  <cp:lastModifiedBy>Marin Komadina</cp:lastModifiedBy>
  <cp:revision>2</cp:revision>
  <dcterms:created xsi:type="dcterms:W3CDTF">2025-12-03T10:52:20Z</dcterms:created>
  <dcterms:modified xsi:type="dcterms:W3CDTF">2025-12-03T10:55:04Z</dcterms:modified>
</cp:coreProperties>
</file>